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7C8F94"/>
                </a:solidFill>
                <a:latin typeface="Consolas"/>
              </a:rPr>
              <a:t>THIRDWAVE — FLOOD EARLY-WARNING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4095" y="365760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7C8F94"/>
                </a:solidFill>
                <a:latin typeface="Consolas"/>
              </a:rPr>
              <a:t>MVP FIELD REPORT · 2026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85800"/>
            <a:ext cx="11185855" cy="0"/>
          </a:xfrm>
          <a:prstGeom prst="line">
            <a:avLst/>
          </a:prstGeom>
          <a:ln w="9525">
            <a:solidFill>
              <a:srgbClr val="C9D3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9601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7C8F94"/>
                </a:solidFill>
                <a:latin typeface="Consolas"/>
              </a:rPr>
              <a:t>05°33'N  00°13'W      ACCRA, GHANA      PILOT DISTRICT · 6 ASSEMBLIES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96012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0" i="0">
                <a:solidFill>
                  <a:srgbClr val="0B2545"/>
                </a:solidFill>
                <a:latin typeface="Georgia"/>
              </a:rPr>
              <a:t>Reading a flooding city with no gauges.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246120"/>
            <a:ext cx="84124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48606B"/>
                </a:solidFill>
                <a:latin typeface="Calibri"/>
              </a:rPr>
              <a:t>ThirdWave turns free satellite data into an explainable flood-vulnerability picture for Accra, and puts it in front of the two people who need it most during a storm — the government officer deciding where to send a pump crew, and the resident deciding whether to leave.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" y="4892040"/>
            <a:ext cx="11185855" cy="0"/>
          </a:xfrm>
          <a:prstGeom prst="line">
            <a:avLst/>
          </a:prstGeom>
          <a:ln w="9525">
            <a:solidFill>
              <a:srgbClr val="C9D3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02920" y="5074920"/>
            <a:ext cx="261358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B7A9E"/>
                </a:solidFill>
                <a:latin typeface="Consolas"/>
              </a:rPr>
              <a:t>COMPOSITE 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349240"/>
            <a:ext cx="261358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B2545"/>
                </a:solidFill>
                <a:latin typeface="Calibri"/>
              </a:rPr>
              <a:t>SAR + DEM + land cover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9383" y="5074920"/>
            <a:ext cx="261358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B7A9E"/>
                </a:solidFill>
                <a:latin typeface="Consolas"/>
              </a:rPr>
              <a:t>PILOT COVERAGE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9383" y="5349240"/>
            <a:ext cx="261358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B2545"/>
                </a:solidFill>
                <a:latin typeface="Calibri"/>
              </a:rPr>
              <a:t>319 scored zones, 500m grid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5847" y="5074920"/>
            <a:ext cx="261358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B7A9E"/>
                </a:solidFill>
                <a:latin typeface="Consolas"/>
              </a:rPr>
              <a:t>INTERFACES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5847" y="5349240"/>
            <a:ext cx="261358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B2545"/>
                </a:solidFill>
                <a:latin typeface="Calibri"/>
              </a:rPr>
              <a:t>Government console · Citizen app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92311" y="5074920"/>
            <a:ext cx="261358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B7A9E"/>
                </a:solidFill>
                <a:latin typeface="Consolas"/>
              </a:rPr>
              <a:t>GROUND TRUTH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92311" y="5349240"/>
            <a:ext cx="261358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B2545"/>
                </a:solidFill>
                <a:latin typeface="Calibri"/>
              </a:rPr>
              <a:t>Zero local sensors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02920" y="704088"/>
            <a:ext cx="11185855" cy="0"/>
          </a:xfrm>
          <a:prstGeom prst="line">
            <a:avLst/>
          </a:prstGeom>
          <a:ln w="12700">
            <a:solidFill>
              <a:srgbClr val="C9D3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411480"/>
            <a:ext cx="5592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7C8F94"/>
                </a:solidFill>
                <a:latin typeface="Consolas"/>
              </a:rPr>
              <a:t>01 — 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847" y="411480"/>
            <a:ext cx="5592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7C8F94"/>
                </a:solidFill>
                <a:latin typeface="Consolas"/>
              </a:rPr>
              <a:t>DATA-POOR, STORM-PRONE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91440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 i="0">
                <a:solidFill>
                  <a:srgbClr val="0B2545"/>
                </a:solidFill>
                <a:latin typeface="Georgia"/>
              </a:rPr>
              <a:t>Accra floods every rainy season. It has almost nothing to see it coming with.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88575" y="91440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1B7A9E"/>
                </a:solidFill>
                <a:latin typeface="Consolas"/>
              </a:rPr>
              <a:t>§1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65960"/>
            <a:ext cx="8686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 i="0">
                <a:solidFill>
                  <a:srgbClr val="48606B"/>
                </a:solidFill>
                <a:latin typeface="Calibri"/>
              </a:rPr>
              <a:t>No dense rain-gauge network. No calibrated hydraulic model of the drainage system — because the drainage system itself is largely undocumented. No shared picture between the officials who'd respond and the residents in the water's path. Kwame Nkrumah Circle floods on a predictable basis, and until this project scored it, that pattern lived in institutional memory and news archives, not in any system a duty officer could query.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749039"/>
            <a:ext cx="2775889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931919"/>
            <a:ext cx="241012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B2545"/>
                </a:solidFill>
                <a:latin typeface="Consolas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617719"/>
            <a:ext cx="241012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48606B"/>
                </a:solidFill>
                <a:latin typeface="Calibri"/>
              </a:rPr>
              <a:t>River or rain gauges instrumenting the pilot district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06241" y="3749039"/>
            <a:ext cx="2775889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89121" y="3931919"/>
            <a:ext cx="241012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B2545"/>
                </a:solidFill>
                <a:latin typeface="Consolas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9121" y="4617719"/>
            <a:ext cx="241012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48606B"/>
                </a:solidFill>
                <a:latin typeface="Calibri"/>
              </a:rPr>
              <a:t>Documented drain/culvert capacity records available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09563" y="3749039"/>
            <a:ext cx="2775889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92443" y="3931919"/>
            <a:ext cx="241012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B2545"/>
                </a:solidFill>
                <a:latin typeface="Consola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92443" y="4617719"/>
            <a:ext cx="241012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48606B"/>
                </a:solidFill>
                <a:latin typeface="Calibri"/>
              </a:rPr>
              <a:t>Free global data sources this project fuses instead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12885" y="3749039"/>
            <a:ext cx="2775889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95765" y="3931919"/>
            <a:ext cx="241012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B2545"/>
                </a:solidFill>
                <a:latin typeface="Consola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5765" y="4617719"/>
            <a:ext cx="241012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48606B"/>
                </a:solidFill>
                <a:latin typeface="Calibri"/>
              </a:rPr>
              <a:t>Audiences with no shared system today — govt &amp; citizens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02920" y="704088"/>
            <a:ext cx="11185855" cy="0"/>
          </a:xfrm>
          <a:prstGeom prst="line">
            <a:avLst/>
          </a:prstGeom>
          <a:ln w="12700">
            <a:solidFill>
              <a:srgbClr val="C9D3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411480"/>
            <a:ext cx="5592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7C8F94"/>
                </a:solidFill>
                <a:latin typeface="Consolas"/>
              </a:rPr>
              <a:t>02 — DATA FUSION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847" y="411480"/>
            <a:ext cx="5592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7C8F94"/>
                </a:solidFill>
                <a:latin typeface="Consolas"/>
              </a:rPr>
              <a:t>FREE, GLOBAL,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91440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 i="0">
                <a:solidFill>
                  <a:srgbClr val="0B2545"/>
                </a:solidFill>
                <a:latin typeface="Georgia"/>
              </a:rPr>
              <a:t>Three public satellite layers, fused into one explainable score.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88575" y="91440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1B7A9E"/>
                </a:solidFill>
                <a:latin typeface="Consolas"/>
              </a:rPr>
              <a:t>§2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3736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48606B"/>
                </a:solidFill>
                <a:latin typeface="Calibri"/>
              </a:rPr>
              <a:t>Every plate below is real output from this project's pipeline, over the actual pilot district. Sentinel-1 radar sees standing water through cloud cover; Copernicus DEM gives terrain; ESA WorldCover gives surface type. No signup, no cost.</a:t>
            </a:r>
          </a:p>
        </p:txBody>
      </p:sp>
      <p:pic>
        <p:nvPicPr>
          <p:cNvPr id="9" name="Picture 8" descr="plate_s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514600"/>
            <a:ext cx="3429000" cy="2423160"/>
          </a:xfrm>
          <a:prstGeom prst="rect">
            <a:avLst/>
          </a:prstGeom>
          <a:ln w="12700">
            <a:solidFill>
              <a:srgbClr val="C9D3CC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502920" y="5029200"/>
            <a:ext cx="3429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B2545"/>
                </a:solidFill>
                <a:latin typeface="Calibri"/>
              </a:rPr>
              <a:t>SAR water occurrence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303520"/>
            <a:ext cx="34290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7C8F94"/>
                </a:solidFill>
                <a:latin typeface="Calibri"/>
              </a:rPr>
              <a:t>Sentinel-1, 2020-2024, 40-scene sample. Darker = more frequently water-like.</a:t>
            </a:r>
          </a:p>
        </p:txBody>
      </p:sp>
      <p:pic>
        <p:nvPicPr>
          <p:cNvPr id="12" name="Picture 11" descr="plate_d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2514600"/>
            <a:ext cx="3429000" cy="2423160"/>
          </a:xfrm>
          <a:prstGeom prst="rect">
            <a:avLst/>
          </a:prstGeom>
          <a:ln w="12700">
            <a:solidFill>
              <a:srgbClr val="C9D3CC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4160520" y="5029200"/>
            <a:ext cx="3429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B2545"/>
                </a:solidFill>
                <a:latin typeface="Calibri"/>
              </a:rPr>
              <a:t>Elevation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5303520"/>
            <a:ext cx="34290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7C8F94"/>
                </a:solidFill>
                <a:latin typeface="Calibri"/>
              </a:rPr>
              <a:t>Copernicus DEM 30m. Green = low-lying, brown = higher ground.</a:t>
            </a:r>
          </a:p>
        </p:txBody>
      </p:sp>
      <p:pic>
        <p:nvPicPr>
          <p:cNvPr id="15" name="Picture 14" descr="plate_worldco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2514600"/>
            <a:ext cx="3429000" cy="2423160"/>
          </a:xfrm>
          <a:prstGeom prst="rect">
            <a:avLst/>
          </a:prstGeom>
          <a:ln w="12700">
            <a:solidFill>
              <a:srgbClr val="C9D3CC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7818120" y="5029200"/>
            <a:ext cx="3429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B2545"/>
                </a:solidFill>
                <a:latin typeface="Calibri"/>
              </a:rPr>
              <a:t>Land cover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5303520"/>
            <a:ext cx="34290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7C8F94"/>
                </a:solidFill>
                <a:latin typeface="Calibri"/>
              </a:rPr>
              <a:t>ESA WorldCover 2021. Red = built-up, blue = water.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172200"/>
            <a:ext cx="11185855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6281928"/>
            <a:ext cx="10820095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B2545"/>
                </a:solidFill>
                <a:latin typeface="Consolas"/>
              </a:rPr>
              <a:t>SCORE = 0.45 · SAR_OCC + 0.35 · LOW_ELEV + 0.20 · IMPERVIOUS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02920" y="704088"/>
            <a:ext cx="11185855" cy="0"/>
          </a:xfrm>
          <a:prstGeom prst="line">
            <a:avLst/>
          </a:prstGeom>
          <a:ln w="12700">
            <a:solidFill>
              <a:srgbClr val="C9D3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411480"/>
            <a:ext cx="5592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7C8F94"/>
                </a:solidFill>
                <a:latin typeface="Consolas"/>
              </a:rPr>
              <a:t>03 —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847" y="411480"/>
            <a:ext cx="5592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7C8F94"/>
                </a:solidFill>
                <a:latin typeface="Consolas"/>
              </a:rPr>
              <a:t>PIPELINE &amp; CONSUMERS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91440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 i="0">
                <a:solidFill>
                  <a:srgbClr val="0B2545"/>
                </a:solidFill>
                <a:latin typeface="Georgia"/>
              </a:rPr>
              <a:t>One computed layer, two very different front doors.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88575" y="91440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1B7A9E"/>
                </a:solidFill>
                <a:latin typeface="Consolas"/>
              </a:rPr>
              <a:t>§3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373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48606B"/>
                </a:solidFill>
                <a:latin typeface="Calibri"/>
              </a:rPr>
              <a:t>Heavy geospatial fetches and simulation run offline; the interfaces read small, fast, precomputed results.</a:t>
            </a:r>
          </a:p>
        </p:txBody>
      </p:sp>
      <p:pic>
        <p:nvPicPr>
          <p:cNvPr id="9" name="Picture 8" descr="diagram_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468880"/>
            <a:ext cx="10515600" cy="4259791"/>
          </a:xfrm>
          <a:prstGeom prst="rect">
            <a:avLst/>
          </a:prstGeom>
          <a:ln w="12700">
            <a:solidFill>
              <a:srgbClr val="C9D3CC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02920" y="658368"/>
            <a:ext cx="11185855" cy="0"/>
          </a:xfrm>
          <a:prstGeom prst="line">
            <a:avLst/>
          </a:prstGeom>
          <a:ln w="12700">
            <a:solidFill>
              <a:srgbClr val="C9D3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365760"/>
            <a:ext cx="5592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7C8F94"/>
                </a:solidFill>
                <a:latin typeface="Consolas"/>
              </a:rPr>
              <a:t>04 — WHAT'S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847" y="365760"/>
            <a:ext cx="5592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7C8F94"/>
                </a:solidFill>
                <a:latin typeface="Consolas"/>
              </a:rPr>
              <a:t>WORKING, NOT MOCKED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31520"/>
            <a:ext cx="91440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0" i="0">
                <a:solidFill>
                  <a:srgbClr val="0B2545"/>
                </a:solidFill>
                <a:latin typeface="Georgia"/>
              </a:rPr>
              <a:t>Four interfaces, all screenshotted from the running app.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88575" y="77724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1B7A9E"/>
                </a:solidFill>
                <a:latin typeface="Consolas"/>
              </a:rPr>
              <a:t>§4</a:t>
            </a:r>
          </a:p>
        </p:txBody>
      </p:sp>
      <p:pic>
        <p:nvPicPr>
          <p:cNvPr id="8" name="Picture 7" descr="01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91640"/>
            <a:ext cx="5166360" cy="1691640"/>
          </a:xfrm>
          <a:prstGeom prst="rect">
            <a:avLst/>
          </a:prstGeom>
          <a:ln w="12700">
            <a:solidFill>
              <a:srgbClr val="C9D3CC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3456432"/>
            <a:ext cx="5166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B2545"/>
                </a:solidFill>
                <a:latin typeface="Calibri"/>
              </a:rPr>
              <a:t>District Vulnerability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730752"/>
            <a:ext cx="5166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7C8F94"/>
                </a:solidFill>
                <a:latin typeface="Calibri"/>
              </a:rPr>
              <a:t>Composite score per assembly, with a toggle onto raw SAR/DEM/WorldCover evidence.</a:t>
            </a:r>
          </a:p>
        </p:txBody>
      </p:sp>
      <p:pic>
        <p:nvPicPr>
          <p:cNvPr id="11" name="Picture 10" descr="04_pluvial_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1691640"/>
            <a:ext cx="5166360" cy="1691640"/>
          </a:xfrm>
          <a:prstGeom prst="rect">
            <a:avLst/>
          </a:prstGeom>
          <a:ln w="12700">
            <a:solidFill>
              <a:srgbClr val="C9D3CC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5806440" y="3456432"/>
            <a:ext cx="5166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B2545"/>
                </a:solidFill>
                <a:latin typeface="Calibri"/>
              </a:rPr>
              <a:t>Pluvial Flood Simulator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06440" y="3730752"/>
            <a:ext cx="5166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7C8F94"/>
                </a:solidFill>
                <a:latin typeface="Calibri"/>
              </a:rPr>
              <a:t>Rainfall-driven ponding proxy over real terrain — Circle: 52cm at 60mm.</a:t>
            </a:r>
          </a:p>
        </p:txBody>
      </p:sp>
      <p:pic>
        <p:nvPicPr>
          <p:cNvPr id="14" name="Picture 13" descr="05_flood3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4114800"/>
            <a:ext cx="5166360" cy="1691640"/>
          </a:xfrm>
          <a:prstGeom prst="rect">
            <a:avLst/>
          </a:prstGeom>
          <a:ln w="12700">
            <a:solidFill>
              <a:srgbClr val="C9D3CC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502920" y="5879592"/>
            <a:ext cx="5166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B2545"/>
                </a:solidFill>
                <a:latin typeface="Calibri"/>
              </a:rPr>
              <a:t>3D Flood 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153912"/>
            <a:ext cx="5166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7C8F94"/>
                </a:solidFill>
                <a:latin typeface="Calibri"/>
              </a:rPr>
              <a:t>Real OSM buildings and roads, true-scale simulated water.</a:t>
            </a:r>
          </a:p>
        </p:txBody>
      </p:sp>
      <p:pic>
        <p:nvPicPr>
          <p:cNvPr id="17" name="Picture 16" descr="07_ai_assistant_cha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6440" y="4114800"/>
            <a:ext cx="5166360" cy="1691640"/>
          </a:xfrm>
          <a:prstGeom prst="rect">
            <a:avLst/>
          </a:prstGeom>
          <a:ln w="12700">
            <a:solidFill>
              <a:srgbClr val="C9D3CC"/>
            </a:solidFill>
          </a:ln>
        </p:spPr>
      </p:pic>
      <p:sp>
        <p:nvSpPr>
          <p:cNvPr id="18" name="TextBox 17"/>
          <p:cNvSpPr txBox="1"/>
          <p:nvPr/>
        </p:nvSpPr>
        <p:spPr>
          <a:xfrm>
            <a:off x="5806440" y="5879592"/>
            <a:ext cx="5166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B2545"/>
                </a:solidFill>
                <a:latin typeface="Calibri"/>
              </a:rPr>
              <a:t>AI Assistant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6440" y="6153912"/>
            <a:ext cx="5166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7C8F94"/>
                </a:solidFill>
                <a:latin typeface="Calibri"/>
              </a:rPr>
              <a:t>Claude with tool-calling over the real computed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02920" y="658368"/>
            <a:ext cx="11185855" cy="0"/>
          </a:xfrm>
          <a:prstGeom prst="line">
            <a:avLst/>
          </a:prstGeom>
          <a:ln w="12700">
            <a:solidFill>
              <a:srgbClr val="C9D3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365760"/>
            <a:ext cx="5592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7C8F94"/>
                </a:solidFill>
                <a:latin typeface="Consolas"/>
              </a:rPr>
              <a:t>04.1 — CROWDSOURCED REPORTING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847" y="365760"/>
            <a:ext cx="5592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7C8F94"/>
                </a:solidFill>
                <a:latin typeface="Consolas"/>
              </a:rPr>
              <a:t>THE VLM IN 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91440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 i="0">
                <a:solidFill>
                  <a:srgbClr val="0B2545"/>
                </a:solidFill>
                <a:latin typeface="Georgia"/>
              </a:rPr>
              <a:t>A resident's photo becomes a structured, reviewable report.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88575" y="82296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1B7A9E"/>
                </a:solidFill>
                <a:latin typeface="Consolas"/>
              </a:rPr>
              <a:t>§4.1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0020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48606B"/>
                </a:solidFill>
                <a:latin typeface="Calibri"/>
              </a:rPr>
              <a:t>A vision-language model finds a reference object, draws the waterline against it, and drafts a triage-quality depth estimate — before the resident reviews and edits it. Live output from the running app.</a:t>
            </a:r>
          </a:p>
        </p:txBody>
      </p:sp>
      <p:pic>
        <p:nvPicPr>
          <p:cNvPr id="9" name="Picture 8" descr="vlm_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8111" y="2331720"/>
            <a:ext cx="4835471" cy="4114800"/>
          </a:xfrm>
          <a:prstGeom prst="rect">
            <a:avLst/>
          </a:prstGeom>
          <a:ln w="12700">
            <a:solidFill>
              <a:srgbClr val="C9D3CC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502920" y="65379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1">
                <a:solidFill>
                  <a:srgbClr val="7C8F94"/>
                </a:solidFill>
                <a:latin typeface="Calibri"/>
              </a:rPr>
              <a:t>Demo photo for this pitch (not a real pilot-district submission): flooded street, Lagos, 2013 — Elgabarty2002, CC BY-SA 4.0, via Wikimedia Commons.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02920" y="658368"/>
            <a:ext cx="11185855" cy="0"/>
          </a:xfrm>
          <a:prstGeom prst="line">
            <a:avLst/>
          </a:prstGeom>
          <a:ln w="12700">
            <a:solidFill>
              <a:srgbClr val="C9D3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365760"/>
            <a:ext cx="5592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7C8F94"/>
                </a:solidFill>
                <a:latin typeface="Consolas"/>
              </a:rPr>
              <a:t>05 — WHERE AI DOES THE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847" y="365760"/>
            <a:ext cx="5592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7C8F94"/>
                </a:solidFill>
                <a:latin typeface="Consolas"/>
              </a:rPr>
              <a:t>FIVE SPECIFIC JOBS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31520"/>
            <a:ext cx="9144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0B2545"/>
                </a:solidFill>
                <a:latin typeface="Georgia"/>
              </a:rPr>
              <a:t>Not "AI everywhere." AI where the constraint actually required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88575" y="77724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1B7A9E"/>
                </a:solidFill>
                <a:latin typeface="Consolas"/>
              </a:rPr>
              <a:t>§5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1783080"/>
            <a:ext cx="11185855" cy="0"/>
          </a:xfrm>
          <a:prstGeom prst="line">
            <a:avLst/>
          </a:prstGeom>
          <a:ln w="9525">
            <a:solidFill>
              <a:srgbClr val="C9D3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02920" y="189280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B7A9E"/>
                </a:solidFill>
                <a:latin typeface="Consola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856232"/>
            <a:ext cx="3931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B2545"/>
                </a:solidFill>
                <a:latin typeface="Calibri"/>
              </a:rPr>
              <a:t>Risk assessment with zero local ground truth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66360" y="1856232"/>
            <a:ext cx="61264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8606B"/>
                </a:solidFill>
                <a:latin typeface="Calibri"/>
              </a:rPr>
              <a:t>Global ML-classified products fused into one score, fine enough to catch the 2015 Circle disaster a coarser score missed.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02920" y="2496312"/>
            <a:ext cx="11185855" cy="0"/>
          </a:xfrm>
          <a:prstGeom prst="line">
            <a:avLst/>
          </a:prstGeom>
          <a:ln w="9525">
            <a:solidFill>
              <a:srgbClr val="C9D3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02920" y="260604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B7A9E"/>
                </a:solidFill>
                <a:latin typeface="Consola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569464"/>
            <a:ext cx="3931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B2545"/>
                </a:solidFill>
                <a:latin typeface="Calibri"/>
              </a:rPr>
              <a:t>Noisy radar hiding small water bodies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2569464"/>
            <a:ext cx="61264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8606B"/>
                </a:solidFill>
                <a:latin typeface="Calibri"/>
              </a:rPr>
              <a:t>A deep despeckling model (SAR2SAR) cleans Sentinel-1 speckle before water-occurrence is computed.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02920" y="3209544"/>
            <a:ext cx="11185855" cy="0"/>
          </a:xfrm>
          <a:prstGeom prst="line">
            <a:avLst/>
          </a:prstGeom>
          <a:ln w="9525">
            <a:solidFill>
              <a:srgbClr val="C9D3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02920" y="3319272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B7A9E"/>
                </a:solidFill>
                <a:latin typeface="Consola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282696"/>
            <a:ext cx="3931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B2545"/>
                </a:solidFill>
                <a:latin typeface="Calibri"/>
              </a:rPr>
              <a:t>Unstructured citizen photos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3282696"/>
            <a:ext cx="61264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8606B"/>
                </a:solidFill>
                <a:latin typeface="Calibri"/>
              </a:rPr>
              <a:t>A vision-language model turns a submitted photo into a structured depth/severity read, resident-validated.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02920" y="3922776"/>
            <a:ext cx="11185855" cy="0"/>
          </a:xfrm>
          <a:prstGeom prst="line">
            <a:avLst/>
          </a:prstGeom>
          <a:ln w="9525">
            <a:solidFill>
              <a:srgbClr val="C9D3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02920" y="4032504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B7A9E"/>
                </a:solidFill>
                <a:latin typeface="Consola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3995928"/>
            <a:ext cx="3931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B2545"/>
                </a:solidFill>
                <a:latin typeface="Calibri"/>
              </a:rPr>
              <a:t>Hydraulic modeling needing data nobody has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66360" y="3995928"/>
            <a:ext cx="61264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8606B"/>
                </a:solidFill>
                <a:latin typeface="Calibri"/>
              </a:rPr>
              <a:t>A lightweight cellular-automaton proxy over real terrain — disclosed as a proxy, not a calibrated model.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02920" y="4636008"/>
            <a:ext cx="11185855" cy="0"/>
          </a:xfrm>
          <a:prstGeom prst="line">
            <a:avLst/>
          </a:prstGeom>
          <a:ln w="9525">
            <a:solidFill>
              <a:srgbClr val="C9D3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02920" y="4745736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B7A9E"/>
                </a:solidFill>
                <a:latin typeface="Consolas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4709160"/>
            <a:ext cx="3931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B2545"/>
                </a:solidFill>
                <a:latin typeface="Calibri"/>
              </a:rPr>
              <a:t>GIS tools locking out non-technical officials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66360" y="4709160"/>
            <a:ext cx="61264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8606B"/>
                </a:solidFill>
                <a:latin typeface="Calibri"/>
              </a:rPr>
              <a:t>Tool-calling chat grounded in the real computed data — plain language in, real answers out.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02920" y="5349240"/>
            <a:ext cx="11185855" cy="0"/>
          </a:xfrm>
          <a:prstGeom prst="line">
            <a:avLst/>
          </a:prstGeom>
          <a:ln w="9525">
            <a:solidFill>
              <a:srgbClr val="C9D3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502920" y="5486400"/>
            <a:ext cx="11185855" cy="1051560"/>
          </a:xfrm>
          <a:prstGeom prst="rect">
            <a:avLst/>
          </a:prstGeom>
          <a:solidFill>
            <a:srgbClr val="DCEBF0"/>
          </a:solidFill>
          <a:ln w="15875">
            <a:solidFill>
              <a:srgbClr val="1B7A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57784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1">
                <a:solidFill>
                  <a:srgbClr val="0B2545"/>
                </a:solidFill>
                <a:latin typeface="Calibri"/>
              </a:rPr>
              <a:t>The core risk score is a transparent formula, not a trained model. We checked whether a public satellite flood-extent dataset could justify a predictive model instead — it couldn't (wrong resolution, not enough local labeled events). Knowing where not to force AI is the same engineering discipline as knowing where to use 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02920" y="704088"/>
            <a:ext cx="11185855" cy="0"/>
          </a:xfrm>
          <a:prstGeom prst="line">
            <a:avLst/>
          </a:prstGeom>
          <a:ln w="12700">
            <a:solidFill>
              <a:srgbClr val="C9D3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411480"/>
            <a:ext cx="5592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7C8F94"/>
                </a:solidFill>
                <a:latin typeface="Consolas"/>
              </a:rPr>
              <a:t>06 —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847" y="411480"/>
            <a:ext cx="5592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7C8F94"/>
                </a:solidFill>
                <a:latin typeface="Consolas"/>
              </a:rPr>
              <a:t>HONEST 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91440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 i="0">
                <a:solidFill>
                  <a:srgbClr val="0B2545"/>
                </a:solidFill>
                <a:latin typeface="Georgia"/>
              </a:rPr>
              <a:t>What's next, gated on what would actually make it better.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88575" y="91440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1B7A9E"/>
                </a:solidFill>
                <a:latin typeface="Consolas"/>
              </a:rPr>
              <a:t>§6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1965960"/>
            <a:ext cx="11185855" cy="0"/>
          </a:xfrm>
          <a:prstGeom prst="line">
            <a:avLst/>
          </a:prstGeom>
          <a:ln w="9525">
            <a:solidFill>
              <a:srgbClr val="C9D3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02920" y="213055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E8A4C"/>
                </a:solidFill>
                <a:latin typeface="Consolas"/>
              </a:rPr>
              <a:t>SHIPPED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2093976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0B2545"/>
                </a:solidFill>
                <a:latin typeface="Calibri"/>
              </a:rPr>
              <a:t>Composite risk score, 4 government tools, 5 citizen tools, AI assistant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2468880"/>
            <a:ext cx="8503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48606B"/>
                </a:solidFill>
                <a:latin typeface="Calibri"/>
              </a:rPr>
              <a:t>All screenshotted from the running pilot-district app in this report.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02920" y="3383280"/>
            <a:ext cx="11185855" cy="0"/>
          </a:xfrm>
          <a:prstGeom prst="line">
            <a:avLst/>
          </a:prstGeom>
          <a:ln w="9525">
            <a:solidFill>
              <a:srgbClr val="C9D3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02920" y="35478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B8860B"/>
                </a:solidFill>
                <a:latin typeface="Consolas"/>
              </a:rPr>
              <a:t>ACCUMULATING NOW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3511296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0B2545"/>
                </a:solidFill>
                <a:latin typeface="Calibri"/>
              </a:rPr>
              <a:t>Citizen reports as a real ground-truth stream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3886200"/>
            <a:ext cx="8503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48606B"/>
                </a:solidFill>
                <a:latin typeface="Calibri"/>
              </a:rPr>
              <a:t>Each geotagged report with a VLM depth estimate is a sparse, real observation — the kind of anchor data a physics-informed model needs.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02920" y="4800600"/>
            <a:ext cx="11185855" cy="0"/>
          </a:xfrm>
          <a:prstGeom prst="line">
            <a:avLst/>
          </a:prstGeom>
          <a:ln w="9525">
            <a:solidFill>
              <a:srgbClr val="C9D3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02920" y="496519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7C8F94"/>
                </a:solidFill>
                <a:latin typeface="Consolas"/>
              </a:rPr>
              <a:t>FUTURE DIRECTION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4928616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0B2545"/>
                </a:solidFill>
                <a:latin typeface="Calibri"/>
              </a:rPr>
              <a:t>Physics-informed neural network (PINN) for surface 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8920" y="5303520"/>
            <a:ext cx="8503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48606B"/>
                </a:solidFill>
                <a:latin typeface="Calibri"/>
              </a:rPr>
              <a:t>Once citizen reports accumulate enough to anchor it, a shallow-water-equation PINN could replace the CA proxy — still bounded by the same missing drainage-capacity data as any hydraulic model.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02920" y="6217920"/>
            <a:ext cx="11185855" cy="0"/>
          </a:xfrm>
          <a:prstGeom prst="line">
            <a:avLst/>
          </a:prstGeom>
          <a:ln w="9525">
            <a:solidFill>
              <a:srgbClr val="C9D3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02920" y="749808"/>
            <a:ext cx="11185855" cy="0"/>
          </a:xfrm>
          <a:prstGeom prst="line">
            <a:avLst/>
          </a:prstGeom>
          <a:ln w="12700">
            <a:solidFill>
              <a:srgbClr val="C9D3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457200"/>
            <a:ext cx="5592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7C8F94"/>
                </a:solidFill>
                <a:latin typeface="Consolas"/>
              </a:rPr>
              <a:t>07 — 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847" y="457200"/>
            <a:ext cx="5592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7C8F94"/>
                </a:solidFill>
                <a:latin typeface="Consolas"/>
              </a:rPr>
              <a:t>THIRDWAVE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96012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0" i="0">
                <a:solidFill>
                  <a:srgbClr val="0B2545"/>
                </a:solidFill>
                <a:latin typeface="Georgia"/>
              </a:rPr>
              <a:t>Built for the officer deciding where to send a pump crew, and the resident deciding whether to leave.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3017520"/>
            <a:ext cx="371033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3200400"/>
            <a:ext cx="330799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B7A9E"/>
                </a:solidFill>
                <a:latin typeface="Consolas"/>
              </a:rPr>
              <a:t>WHAT IT 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3566160"/>
            <a:ext cx="3307994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48606B"/>
                </a:solidFill>
                <a:latin typeface="Calibri"/>
              </a:rPr>
              <a:t>A working MVP: real satellite fusion, real government &amp; citizen tools, tested end-to-end.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40682" y="3017520"/>
            <a:ext cx="371033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41850" y="3200400"/>
            <a:ext cx="330799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B7A9E"/>
                </a:solidFill>
                <a:latin typeface="Consolas"/>
              </a:rPr>
              <a:t>WHAT IT ISN'T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41850" y="3566160"/>
            <a:ext cx="3307994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48606B"/>
                </a:solidFill>
                <a:latin typeface="Calibri"/>
              </a:rPr>
              <a:t>Not a calibrated hydraulic model, not a substitute for real sensors — every tool discloses its own limits in-app.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78444" y="3017520"/>
            <a:ext cx="371033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79612" y="3200400"/>
            <a:ext cx="330799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B7A9E"/>
                </a:solidFill>
                <a:latin typeface="Consolas"/>
              </a:rPr>
              <a:t>ASK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9612" y="3566160"/>
            <a:ext cx="3307994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48606B"/>
                </a:solidFill>
                <a:latin typeface="Calibri"/>
              </a:rPr>
              <a:t>Feedback on the pilot scope, and a path to real citizen-report volume to anchor what comes next.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0350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C8F94"/>
                </a:solidFill>
                <a:latin typeface="Consolas"/>
              </a:rPr>
              <a:t>THIRDWAVE — ACCRA, GHANA · PLATES 2.1-2.3 DERIVED FROM SENTINEL-1 / COPERNICUS DEM / ESA WORLDCOVER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